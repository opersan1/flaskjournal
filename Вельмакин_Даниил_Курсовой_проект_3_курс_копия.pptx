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3"/>
  </p:notesMasterIdLst>
  <p:sldIdLst>
    <p:sldId id="332" r:id="rId2"/>
    <p:sldId id="322" r:id="rId3"/>
    <p:sldId id="323" r:id="rId4"/>
    <p:sldId id="324" r:id="rId5"/>
    <p:sldId id="325" r:id="rId6"/>
    <p:sldId id="333" r:id="rId7"/>
    <p:sldId id="336" r:id="rId8"/>
    <p:sldId id="335" r:id="rId9"/>
    <p:sldId id="339" r:id="rId10"/>
    <p:sldId id="334" r:id="rId11"/>
    <p:sldId id="329" r:id="rId12"/>
  </p:sldIdLst>
  <p:sldSz cx="12192000" cy="6858000"/>
  <p:notesSz cx="6858000" cy="9144000"/>
  <p:embeddedFontLst>
    <p:embeddedFont>
      <p:font typeface="Arial Black" panose="020B06040202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KyivType Sans Heavy" pitchFamily="2" charset="0"/>
      <p:bold r:id="rId21"/>
    </p:embeddedFont>
    <p:embeddedFont>
      <p:font typeface="KyivType Sans Medium" pitchFamily="2" charset="0"/>
      <p:regular r:id="rId22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89F8"/>
    <a:srgbClr val="00FE5D"/>
    <a:srgbClr val="293DF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68" autoAdjust="0"/>
  </p:normalViewPr>
  <p:slideViewPr>
    <p:cSldViewPr snapToGrid="0" snapToObjects="1" showGuides="1">
      <p:cViewPr varScale="1">
        <p:scale>
          <a:sx n="82" d="100"/>
          <a:sy n="82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9B0FD15-85C4-44BE-BE72-96CFC45279E3}" type="datetimeFigureOut">
              <a:rPr lang="ru-RU"/>
              <a:t>13.11.2025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289B5C42-149E-42C7-B6C0-EF2864EBCE8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A083F-CBCE-4151-84F1-F68EB80A3F7C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103-BEB4-4CD4-873F-A6A7C4CB048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65B79-6690-4F8C-9B80-82DFE6F99E90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2FDD2-4DBF-43E2-97E4-DDC902C6D72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36BA-153D-4673-906B-42F6EE297799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6AFFB-175A-4F6E-B729-E1E32C74820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5939F-F447-4859-895B-7CD379D81A0B}" type="datetimeFigureOut">
              <a:rPr lang="ru-RU"/>
              <a:t>13.11.2025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080D9-3368-496F-B9B1-B7DC3160085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7486-02C4-46EE-9756-E897201AB6E3}" type="datetimeFigureOut">
              <a:rPr lang="ru-RU"/>
              <a:t>13.11.2025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C5051-C1A1-4FF1-AD64-91773D064C7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BE144-A518-46D4-A3D3-5B26AC5A70FC}" type="datetimeFigureOut">
              <a:rPr lang="ru-RU"/>
              <a:t>13.11.2025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7AF17-04B7-470F-AAC4-389DD9D49AF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83DF9-1B82-47D1-A315-3B91E2813040}" type="datetimeFigureOut">
              <a:rPr lang="ru-RU"/>
              <a:t>13.11.2025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2884-6AB9-4798-936F-2B0A65303D61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67B48-A092-46D9-8EA5-AFE73504FE0E}" type="datetimeFigureOut">
              <a:rPr lang="ru-RU"/>
              <a:t>13.11.2025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7780-06D1-427D-80C7-A604DBC6530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91647-C8AD-48AE-BFC4-A28E9BB6F421}" type="datetimeFigureOut">
              <a:rPr lang="ru-RU"/>
              <a:t>13.11.2025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E76B5-54B0-4960-BDA8-9299F5A95D1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E7F8B-2442-4AFC-A6D3-B723CCE6BA73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D227C-F957-4E6F-80E6-5E3F72CCC3A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1FCF1-25CD-4225-8B77-8FEDF4ABE325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98027-0C96-4F94-BDCD-8E7E2E6C071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23B16D-E927-4C77-B2E9-E87E4CA9289D}" type="datetimeFigureOut">
              <a:rPr lang="ru-RU"/>
              <a:t>13.11.2025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F9D80C-D0B1-4F1D-B1F9-F1B97B9980CB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87378" y="283058"/>
            <a:ext cx="499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КОЛЛЕДЖ МИРОВОЙ ЭКОНОМИКИ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И ПЕРЕДОВЫХ ТЕХНОЛОГИЙ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490" y="1219200"/>
            <a:ext cx="8553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KyivType Sans Heavy" panose="00000900000000000000" pitchFamily="50" charset="-52"/>
              </a:rPr>
              <a:t>Курсовой проект по теме: </a:t>
            </a:r>
          </a:p>
          <a:p>
            <a:pPr algn="ctr"/>
            <a:r>
              <a:rPr lang="en-GB" sz="2800" dirty="0">
                <a:solidFill>
                  <a:srgbClr val="FF0000"/>
                </a:solidFill>
                <a:latin typeface="KyivType Sans Heavy" panose="00000900000000000000" pitchFamily="50" charset="-52"/>
              </a:rPr>
              <a:t>“Web-</a:t>
            </a:r>
            <a:r>
              <a:rPr lang="ru-RU" sz="2800" dirty="0">
                <a:solidFill>
                  <a:srgbClr val="FF0000"/>
                </a:solidFill>
                <a:latin typeface="KyivType Sans Heavy" panose="00000900000000000000" pitchFamily="50" charset="-52"/>
              </a:rPr>
              <a:t>приложение Электронный Журнал»</a:t>
            </a:r>
          </a:p>
        </p:txBody>
      </p:sp>
      <p:grpSp>
        <p:nvGrpSpPr>
          <p:cNvPr id="25" name="Группа 24"/>
          <p:cNvGrpSpPr/>
          <p:nvPr/>
        </p:nvGrpSpPr>
        <p:grpSpPr>
          <a:xfrm rot="16200000">
            <a:off x="11028501" y="5726820"/>
            <a:ext cx="1123399" cy="609870"/>
            <a:chOff x="2134722" y="1799378"/>
            <a:chExt cx="687121" cy="373024"/>
          </a:xfrm>
        </p:grpSpPr>
        <p:cxnSp>
          <p:nvCxnSpPr>
            <p:cNvPr id="17" name="Прямая соединительная линия 16"/>
            <p:cNvCxnSpPr/>
            <p:nvPr/>
          </p:nvCxnSpPr>
          <p:spPr>
            <a:xfrm>
              <a:off x="2134722" y="1986686"/>
              <a:ext cx="67537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 flipH="1" flipV="1">
              <a:off x="2630257" y="1799378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 flipH="1">
              <a:off x="2630255" y="1980816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Арка 17"/>
          <p:cNvSpPr/>
          <p:nvPr/>
        </p:nvSpPr>
        <p:spPr>
          <a:xfrm>
            <a:off x="9833317" y="452465"/>
            <a:ext cx="1643458" cy="1643458"/>
          </a:xfrm>
          <a:prstGeom prst="blockArc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6756" y="3666585"/>
            <a:ext cx="1435149" cy="1435149"/>
          </a:xfrm>
          <a:prstGeom prst="rect">
            <a:avLst/>
          </a:prstGeom>
        </p:spPr>
      </p:pic>
      <p:grpSp>
        <p:nvGrpSpPr>
          <p:cNvPr id="20" name="Группа 19"/>
          <p:cNvGrpSpPr/>
          <p:nvPr/>
        </p:nvGrpSpPr>
        <p:grpSpPr>
          <a:xfrm rot="2700000">
            <a:off x="252778" y="287612"/>
            <a:ext cx="871348" cy="473037"/>
            <a:chOff x="2134722" y="1799378"/>
            <a:chExt cx="687121" cy="373024"/>
          </a:xfrm>
        </p:grpSpPr>
        <p:cxnSp>
          <p:nvCxnSpPr>
            <p:cNvPr id="21" name="Прямая соединительная линия 20"/>
            <p:cNvCxnSpPr/>
            <p:nvPr/>
          </p:nvCxnSpPr>
          <p:spPr>
            <a:xfrm>
              <a:off x="2134722" y="1986686"/>
              <a:ext cx="67537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 flipH="1" flipV="1">
              <a:off x="2630257" y="1799378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/>
            <p:cNvCxnSpPr/>
            <p:nvPr/>
          </p:nvCxnSpPr>
          <p:spPr>
            <a:xfrm flipH="1">
              <a:off x="2630255" y="1980816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271" y="1509712"/>
            <a:ext cx="1400176" cy="140017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208" y="5101734"/>
            <a:ext cx="1491721" cy="1491721"/>
          </a:xfrm>
          <a:prstGeom prst="rect">
            <a:avLst/>
          </a:prstGeom>
        </p:spPr>
      </p:pic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788490" y="2829441"/>
            <a:ext cx="7044827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студента очной формы обучения</a:t>
            </a:r>
          </a:p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специальности</a:t>
            </a:r>
            <a:r>
              <a:rPr lang="ru-RU" sz="1600" dirty="0">
                <a:solidFill>
                  <a:srgbClr val="FFFF00"/>
                </a:solidFill>
                <a:latin typeface="KyivType Sans Medium" panose="00000600000000000000" pitchFamily="50" charset="-52"/>
              </a:rPr>
              <a:t> </a:t>
            </a:r>
            <a:endParaRPr lang="ru-RU" sz="1600" dirty="0">
              <a:solidFill>
                <a:schemeClr val="bg1"/>
              </a:solidFill>
              <a:latin typeface="KyivType Sans Medium" panose="00000600000000000000" pitchFamily="50" charset="-52"/>
            </a:endParaRPr>
          </a:p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09.02.07 Информационные системы и программирование,</a:t>
            </a:r>
          </a:p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квалификация программист</a:t>
            </a:r>
          </a:p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3 курса группы  о-П </a:t>
            </a:r>
            <a:r>
              <a:rPr lang="ru-RU" sz="1600" dirty="0">
                <a:solidFill>
                  <a:srgbClr val="FF0000"/>
                </a:solidFill>
                <a:latin typeface="KyivType Sans Medium" panose="00000600000000000000" pitchFamily="50" charset="-52"/>
              </a:rPr>
              <a:t>923/2</a:t>
            </a:r>
          </a:p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rgbClr val="FF0000"/>
                </a:solidFill>
                <a:latin typeface="KyivType Sans Medium" panose="00000600000000000000" pitchFamily="50" charset="-52"/>
              </a:rPr>
              <a:t>Вельмакин Даниил Алексеевич 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989667" y="5101734"/>
            <a:ext cx="5762571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Руководитель курсового проекта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sz="1600">
                <a:solidFill>
                  <a:schemeClr val="bg1"/>
                </a:solidFill>
                <a:latin typeface="KyivType Sans Medium" panose="00000600000000000000" pitchFamily="50" charset="-52"/>
              </a:rPr>
              <a:t>преподаватель: Нагапетян </a:t>
            </a:r>
            <a:r>
              <a:rPr lang="ru-RU" sz="1600" dirty="0" err="1">
                <a:solidFill>
                  <a:schemeClr val="bg1"/>
                </a:solidFill>
                <a:latin typeface="KyivType Sans Medium" panose="00000600000000000000" pitchFamily="50" charset="-52"/>
              </a:rPr>
              <a:t>Паргев</a:t>
            </a:r>
            <a:r>
              <a:rPr lang="ru-RU" sz="16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KyivType Sans Medium" panose="00000600000000000000" pitchFamily="50" charset="-52"/>
              </a:rPr>
              <a:t>Смбатович</a:t>
            </a:r>
            <a:endParaRPr lang="ru-RU" sz="1600" dirty="0">
              <a:solidFill>
                <a:schemeClr val="bg1"/>
              </a:solidFill>
              <a:latin typeface="KyivType Sans Medium" panose="00000600000000000000" pitchFamily="50" charset="-52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5683748" y="6199408"/>
            <a:ext cx="15985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>
                <a:solidFill>
                  <a:schemeClr val="bg1"/>
                </a:solidFill>
                <a:latin typeface="KyivType Sans Medium" panose="00000600000000000000" pitchFamily="50" charset="-52"/>
              </a:rPr>
              <a:t>Москва 2025</a:t>
            </a:r>
            <a:endParaRPr lang="ru-RU" sz="1600" dirty="0">
              <a:solidFill>
                <a:schemeClr val="bg1"/>
              </a:solidFill>
              <a:latin typeface="KyivType Sans Medium" panose="00000600000000000000" pitchFamily="50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344274" y="351221"/>
            <a:ext cx="6785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Актуальность темы исследования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4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Группа 11"/>
          <p:cNvGrpSpPr/>
          <p:nvPr/>
        </p:nvGrpSpPr>
        <p:grpSpPr>
          <a:xfrm>
            <a:off x="9752845" y="1338568"/>
            <a:ext cx="1321030" cy="1418885"/>
            <a:chOff x="8545421" y="1418146"/>
            <a:chExt cx="1434651" cy="1540922"/>
          </a:xfrm>
          <a:gradFill>
            <a:gsLst>
              <a:gs pos="0">
                <a:srgbClr val="293DF4"/>
              </a:gs>
              <a:gs pos="100000">
                <a:srgbClr val="00FE5D"/>
              </a:gs>
            </a:gsLst>
            <a:lin ang="0" scaled="0"/>
          </a:gradFill>
        </p:grpSpPr>
        <p:sp>
          <p:nvSpPr>
            <p:cNvPr id="4" name="Прямоугольник 3"/>
            <p:cNvSpPr/>
            <p:nvPr/>
          </p:nvSpPr>
          <p:spPr>
            <a:xfrm>
              <a:off x="9209611" y="1418146"/>
              <a:ext cx="770461" cy="7704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Хорда 7"/>
            <p:cNvSpPr/>
            <p:nvPr/>
          </p:nvSpPr>
          <p:spPr>
            <a:xfrm rot="10800000">
              <a:off x="9209611" y="2188607"/>
              <a:ext cx="770461" cy="770461"/>
            </a:xfrm>
            <a:prstGeom prst="chord">
              <a:avLst>
                <a:gd name="adj1" fmla="val 7775"/>
                <a:gd name="adj2" fmla="val 1080863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Равнобедренный треугольник 9"/>
            <p:cNvSpPr/>
            <p:nvPr/>
          </p:nvSpPr>
          <p:spPr>
            <a:xfrm rot="5400000">
              <a:off x="8492286" y="1471281"/>
              <a:ext cx="770460" cy="66419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Текстовое поле 1"/>
          <p:cNvSpPr txBox="1"/>
          <p:nvPr/>
        </p:nvSpPr>
        <p:spPr>
          <a:xfrm>
            <a:off x="7940040" y="2684780"/>
            <a:ext cx="4251960" cy="20548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Стартовая точка для всех пользователей.﻿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Доступны вход и регистрация.﻿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Минималистичный интерфейс для быстрого начала.﻿</a:t>
            </a: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endParaRPr sz="1600" i="0">
              <a:latin typeface="Arial Black" panose="020B0A04020102020204" charset="0"/>
              <a:ea typeface="fkGroteskNeue"/>
              <a:cs typeface="Arial Black" panose="020B0A04020102020204" charset="0"/>
            </a:endParaRPr>
          </a:p>
        </p:txBody>
      </p:sp>
      <p:pic>
        <p:nvPicPr>
          <p:cNvPr id="3" name="Изображение 2" descr="image.png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064895"/>
            <a:ext cx="7181215" cy="4727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4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Группа 6"/>
          <p:cNvGrpSpPr/>
          <p:nvPr/>
        </p:nvGrpSpPr>
        <p:grpSpPr>
          <a:xfrm rot="5400000">
            <a:off x="9738856" y="1372887"/>
            <a:ext cx="1703995" cy="1635360"/>
            <a:chOff x="6299997" y="2533474"/>
            <a:chExt cx="1485983" cy="1426130"/>
          </a:xfrm>
          <a:gradFill>
            <a:gsLst>
              <a:gs pos="100000">
                <a:srgbClr val="FF00FF"/>
              </a:gs>
              <a:gs pos="0">
                <a:srgbClr val="9789F8"/>
              </a:gs>
            </a:gsLst>
            <a:lin ang="0" scaled="0"/>
          </a:gradFill>
        </p:grpSpPr>
        <p:sp>
          <p:nvSpPr>
            <p:cNvPr id="3" name="Параллелограмм 2"/>
            <p:cNvSpPr/>
            <p:nvPr/>
          </p:nvSpPr>
          <p:spPr>
            <a:xfrm>
              <a:off x="6299997" y="3389152"/>
              <a:ext cx="894959" cy="570452"/>
            </a:xfrm>
            <a:prstGeom prst="parallelogram">
              <a:avLst>
                <a:gd name="adj" fmla="val 6519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Арка 4"/>
            <p:cNvSpPr/>
            <p:nvPr/>
          </p:nvSpPr>
          <p:spPr>
            <a:xfrm rot="10800000">
              <a:off x="6645478" y="2818700"/>
              <a:ext cx="570452" cy="570452"/>
            </a:xfrm>
            <a:prstGeom prst="blockArc">
              <a:avLst>
                <a:gd name="adj1" fmla="val 10800000"/>
                <a:gd name="adj2" fmla="val 298094"/>
                <a:gd name="adj3" fmla="val 233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6" name="Арка 15"/>
            <p:cNvSpPr/>
            <p:nvPr/>
          </p:nvSpPr>
          <p:spPr>
            <a:xfrm rot="10800000">
              <a:off x="6645478" y="2533474"/>
              <a:ext cx="570452" cy="570452"/>
            </a:xfrm>
            <a:prstGeom prst="blockArc">
              <a:avLst>
                <a:gd name="adj1" fmla="val 10800000"/>
                <a:gd name="adj2" fmla="val 21450672"/>
                <a:gd name="adj3" fmla="val 2343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6" name="Прямоугольный треугольник 5"/>
            <p:cNvSpPr/>
            <p:nvPr/>
          </p:nvSpPr>
          <p:spPr>
            <a:xfrm>
              <a:off x="7215528" y="2818700"/>
              <a:ext cx="570452" cy="570452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84577" y="1569401"/>
            <a:ext cx="112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latin typeface="KyivType Sans Medium" panose="00000600000000000000" pitchFamily="50" charset="-52"/>
              </a:rPr>
              <a:t>Цель: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925" y="281197"/>
            <a:ext cx="8278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>
                <a:latin typeface="KyivType Sans Heavy" panose="00000900000000000000" pitchFamily="50" charset="-52"/>
              </a:rPr>
              <a:t>Цель, объект и предмет курсовой работы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75" y="3057616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dirty="0">
                <a:latin typeface="KyivType Sans Medium" panose="00000600000000000000" pitchFamily="50" charset="-52"/>
              </a:rPr>
              <a:t>Объект: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002" y="4036060"/>
            <a:ext cx="1781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400" b="1" dirty="0">
                <a:latin typeface="KyivType Sans Medium" panose="00000600000000000000" pitchFamily="50" charset="-52"/>
              </a:rPr>
              <a:t>Предмет:</a:t>
            </a: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420620" y="1272540"/>
            <a:ext cx="7025005" cy="12065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Создать работоспособный прототип, позволяющий в браузере вести цифровой журнал класса: регистрировать пользователей, разграничивать доступ по ролям, фиксировать оценки по предметам и оперативно отображать их в интерфейсе ученика и учителя.</a:t>
            </a: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420620" y="2713990"/>
            <a:ext cx="694055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Цифровая автоматизация рутины оценивания в школе/колледже: сбор, хранение, обновление и представление данных об успеваемости, а также коммуникация «учитель ↔ ученик» в контексте просмотра оценок и статуса выполнения работ.</a:t>
            </a: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494280" y="4114165"/>
            <a:ext cx="7933055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Конкретные программные средства и методы реализации: структура проекта (templates/static/data/app.py), веб‑маршруты и обработка форм, шаблоны интерфейса и их состояние при отсутствии/наличии данных, файловое хранилище JSON как учебная замена СУБД, а также требования к безопасности (сессии, выход из системы, план перехода на хэш паролей и СУБД).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105150" y="281197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>
                <a:latin typeface="KyivType Sans Heavy" panose="00000900000000000000" pitchFamily="50" charset="-52"/>
              </a:rPr>
              <a:t>Задачи исследования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4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9789F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9789F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9789F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Текстовое поле 1"/>
          <p:cNvSpPr txBox="1"/>
          <p:nvPr/>
        </p:nvSpPr>
        <p:spPr>
          <a:xfrm>
            <a:off x="1036955" y="1180782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600">
                <a:latin typeface="Arial Black" panose="020B0A04020102020204" charset="0"/>
                <a:cs typeface="Arial Black" panose="020B0A04020102020204" charset="0"/>
              </a:rPr>
              <a:t>Кабинет учителя (список учеников, добавление, редактирование)</a:t>
            </a: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299200" y="118014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/>
            <a:r>
              <a:rPr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Кабинет ученика</a:t>
            </a:r>
            <a:r>
              <a:rPr lang="ru-RU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(п</a:t>
            </a:r>
            <a:r>
              <a:rPr lang="en-US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росмотр</a:t>
            </a:r>
            <a:r>
              <a:rPr lang="en-US" altLang="ru-RU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 </a:t>
            </a:r>
            <a:r>
              <a:rPr lang="en-US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собственных</a:t>
            </a:r>
            <a:r>
              <a:rPr lang="en-US" altLang="ru-RU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 </a:t>
            </a:r>
            <a:r>
              <a:rPr lang="en-US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оценок</a:t>
            </a:r>
            <a:r>
              <a:rPr lang="en-US" altLang="ru-RU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 </a:t>
            </a:r>
            <a:r>
              <a:rPr lang="en-US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и</a:t>
            </a:r>
            <a:r>
              <a:rPr lang="en-US" altLang="ru-RU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 </a:t>
            </a:r>
            <a:r>
              <a:rPr lang="en-US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предметов</a:t>
            </a:r>
            <a:r>
              <a:rPr lang="ru-RU" altLang="en-US" sz="1600" i="0">
                <a:latin typeface="Arial Black" panose="020B0A04020102020204" charset="0"/>
                <a:ea typeface="fkGroteskNeue"/>
                <a:cs typeface="Arial Black" panose="020B0A04020102020204" charset="0"/>
              </a:rPr>
              <a:t>)</a:t>
            </a:r>
          </a:p>
        </p:txBody>
      </p:sp>
      <p:pic>
        <p:nvPicPr>
          <p:cNvPr id="4" name="Изображение 3" descr="image.p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9950"/>
            <a:ext cx="6116320" cy="3757295"/>
          </a:xfrm>
          <a:prstGeom prst="rect">
            <a:avLst/>
          </a:prstGeom>
        </p:spPr>
      </p:pic>
      <p:pic>
        <p:nvPicPr>
          <p:cNvPr id="5" name="Изображение 4" descr="image.png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905" y="2132965"/>
            <a:ext cx="5713095" cy="3827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410689" y="283664"/>
            <a:ext cx="5876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Среда и средства разработки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4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Группа 32"/>
          <p:cNvGrpSpPr/>
          <p:nvPr/>
        </p:nvGrpSpPr>
        <p:grpSpPr>
          <a:xfrm rot="5400000">
            <a:off x="9532229" y="1579061"/>
            <a:ext cx="1782138" cy="1301154"/>
            <a:chOff x="9404916" y="1524706"/>
            <a:chExt cx="1568126" cy="1144902"/>
          </a:xfrm>
        </p:grpSpPr>
        <p:sp>
          <p:nvSpPr>
            <p:cNvPr id="34" name="Прямоугольник: усеченные противолежащие углы 33"/>
            <p:cNvSpPr/>
            <p:nvPr/>
          </p:nvSpPr>
          <p:spPr>
            <a:xfrm flipH="1">
              <a:off x="9724547" y="1524706"/>
              <a:ext cx="1248495" cy="479958"/>
            </a:xfrm>
            <a:prstGeom prst="snip2DiagRect">
              <a:avLst>
                <a:gd name="adj1" fmla="val 0"/>
                <a:gd name="adj2" fmla="val 50000"/>
              </a:avLst>
            </a:prstGeom>
            <a:noFill/>
            <a:ln w="28575">
              <a:solidFill>
                <a:srgbClr val="293D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5" name="Овал 34"/>
            <p:cNvSpPr/>
            <p:nvPr/>
          </p:nvSpPr>
          <p:spPr>
            <a:xfrm>
              <a:off x="9404916" y="1764685"/>
              <a:ext cx="239979" cy="239979"/>
            </a:xfrm>
            <a:prstGeom prst="ellipse">
              <a:avLst/>
            </a:prstGeom>
            <a:noFill/>
            <a:ln w="28575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9724546" y="2079482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9724546" y="2411954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</p:grpSp>
      <p:sp>
        <p:nvSpPr>
          <p:cNvPr id="2" name="Текстовое поле 1"/>
          <p:cNvSpPr txBox="1"/>
          <p:nvPr/>
        </p:nvSpPr>
        <p:spPr>
          <a:xfrm>
            <a:off x="5515610" y="1073468"/>
            <a:ext cx="5080000" cy="18148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600">
                <a:latin typeface="Arial Black" panose="020B0A04020102020204" charset="0"/>
                <a:cs typeface="Arial Black" panose="020B0A04020102020204" charset="0"/>
              </a:rPr>
              <a:t>Для разработки веб-приложения «Электронный журнал для образовательной организации» использовалась среда программирования PyCharm Community Edition, предназначенная для работы с языком Python.</a:t>
            </a: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568315" y="2888933"/>
            <a:ext cx="5080000" cy="27997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600">
                <a:latin typeface="Arial Black" panose="020B0A04020102020204" charset="0"/>
                <a:cs typeface="Arial Black" panose="020B0A04020102020204" charset="0"/>
              </a:rPr>
              <a:t>В качестве фреймворка применён Flask — лёгкий веб-фреймворк на Python, обеспечивающий маршрутизацию, работу с шаблонами и обработку пользовательских запросов.</a:t>
            </a:r>
            <a:br>
              <a:rPr sz="1600">
                <a:latin typeface="Arial Black" panose="020B0A04020102020204" charset="0"/>
                <a:cs typeface="Arial Black" panose="020B0A04020102020204" charset="0"/>
              </a:rPr>
            </a:b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Интерфейс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приложения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реализован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с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использованием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HTML, CSS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библиотеки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Bootstrap 5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оформления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.</a:t>
            </a:r>
          </a:p>
          <a:p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хранения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данных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использовались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JSON-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файлы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имитирующие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работу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базы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600">
                <a:latin typeface="Arial Black" panose="020B0A04020102020204" charset="0"/>
                <a:cs typeface="Arial Black" panose="020B0A04020102020204" charset="0"/>
              </a:rPr>
              <a:t>данных</a:t>
            </a:r>
            <a:r>
              <a:rPr lang="en-US" altLang="ru-RU" sz="1600"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  <p:pic>
        <p:nvPicPr>
          <p:cNvPr id="6" name="Изображение 5" descr="91dba381-d86c-412d-8745-fff9b31d6e4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338580"/>
            <a:ext cx="4469765" cy="370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78029" y="249260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РАЗРАБОТКА СТРУКТУРЫ БАЗЫ ДАННЫХ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32"/>
          <p:cNvGrpSpPr/>
          <p:nvPr/>
        </p:nvGrpSpPr>
        <p:grpSpPr>
          <a:xfrm rot="5400000">
            <a:off x="9532229" y="1579061"/>
            <a:ext cx="1782138" cy="1301154"/>
            <a:chOff x="9404916" y="1524706"/>
            <a:chExt cx="1568126" cy="1144902"/>
          </a:xfrm>
        </p:grpSpPr>
        <p:sp>
          <p:nvSpPr>
            <p:cNvPr id="34" name="Прямоугольник: усеченные противолежащие углы 33"/>
            <p:cNvSpPr/>
            <p:nvPr/>
          </p:nvSpPr>
          <p:spPr>
            <a:xfrm flipH="1">
              <a:off x="9724547" y="1524706"/>
              <a:ext cx="1248495" cy="479958"/>
            </a:xfrm>
            <a:prstGeom prst="snip2DiagRect">
              <a:avLst>
                <a:gd name="adj1" fmla="val 0"/>
                <a:gd name="adj2" fmla="val 50000"/>
              </a:avLst>
            </a:prstGeom>
            <a:noFill/>
            <a:ln w="28575">
              <a:solidFill>
                <a:srgbClr val="293D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5" name="Овал 34"/>
            <p:cNvSpPr/>
            <p:nvPr/>
          </p:nvSpPr>
          <p:spPr>
            <a:xfrm>
              <a:off x="9404916" y="1764685"/>
              <a:ext cx="239979" cy="239979"/>
            </a:xfrm>
            <a:prstGeom prst="ellipse">
              <a:avLst/>
            </a:prstGeom>
            <a:noFill/>
            <a:ln w="28575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9724546" y="2079482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9724546" y="2411954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</p:grp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35" y="985520"/>
            <a:ext cx="9725025" cy="5618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3903" y="218259"/>
            <a:ext cx="8795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Структурная схема программного продукта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32"/>
          <p:cNvGrpSpPr/>
          <p:nvPr/>
        </p:nvGrpSpPr>
        <p:grpSpPr>
          <a:xfrm rot="5400000">
            <a:off x="9532229" y="1579061"/>
            <a:ext cx="1782138" cy="1301154"/>
            <a:chOff x="9404916" y="1524706"/>
            <a:chExt cx="1568126" cy="1144902"/>
          </a:xfrm>
        </p:grpSpPr>
        <p:sp>
          <p:nvSpPr>
            <p:cNvPr id="34" name="Прямоугольник: усеченные противолежащие углы 33"/>
            <p:cNvSpPr/>
            <p:nvPr/>
          </p:nvSpPr>
          <p:spPr>
            <a:xfrm flipH="1">
              <a:off x="9724547" y="1524706"/>
              <a:ext cx="1248495" cy="479958"/>
            </a:xfrm>
            <a:prstGeom prst="snip2DiagRect">
              <a:avLst>
                <a:gd name="adj1" fmla="val 0"/>
                <a:gd name="adj2" fmla="val 50000"/>
              </a:avLst>
            </a:prstGeom>
            <a:noFill/>
            <a:ln w="28575">
              <a:solidFill>
                <a:srgbClr val="293D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5" name="Овал 34"/>
            <p:cNvSpPr/>
            <p:nvPr/>
          </p:nvSpPr>
          <p:spPr>
            <a:xfrm>
              <a:off x="9404916" y="1764685"/>
              <a:ext cx="239979" cy="239979"/>
            </a:xfrm>
            <a:prstGeom prst="ellipse">
              <a:avLst/>
            </a:prstGeom>
            <a:noFill/>
            <a:ln w="28575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9724546" y="2079482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9724546" y="2411954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</p:grpSp>
      <p:pic>
        <p:nvPicPr>
          <p:cNvPr id="4" name="Изображение 3" descr="image.p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315" y="1038225"/>
            <a:ext cx="8757285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361950" y="1216660"/>
            <a:ext cx="1094422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Интерфейс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веб</a:t>
            </a:r>
            <a:r>
              <a:rPr lang="en-US" altLang="ru-RU" sz="1200" dirty="0">
                <a:latin typeface="KyivType Sans Medium" panose="00000600000000000000" pitchFamily="50" charset="-52"/>
              </a:rPr>
              <a:t>-</a:t>
            </a:r>
            <a:r>
              <a:rPr lang="en-US" altLang="en-US" sz="1200" dirty="0">
                <a:latin typeface="KyivType Sans Medium" panose="00000600000000000000" pitchFamily="50" charset="-52"/>
              </a:rPr>
              <a:t>приложения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" altLang="en-US" sz="1200" dirty="0">
                <a:latin typeface="KyivType Sans Medium" panose="00000600000000000000" pitchFamily="50" charset="-52"/>
              </a:rPr>
              <a:t>«</a:t>
            </a:r>
            <a:r>
              <a:rPr lang="en-US" altLang="en-US" sz="1200" dirty="0">
                <a:latin typeface="KyivType Sans Medium" panose="00000600000000000000" pitchFamily="50" charset="-52"/>
              </a:rPr>
              <a:t>Электронный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журнал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для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образовательной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организации</a:t>
            </a:r>
            <a:r>
              <a:rPr lang="" altLang="en-US" sz="1200" dirty="0">
                <a:latin typeface="KyivType Sans Medium" panose="00000600000000000000" pitchFamily="50" charset="-52"/>
              </a:rPr>
              <a:t>»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разработан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использованием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языков</a:t>
            </a:r>
            <a:r>
              <a:rPr lang="en-US" altLang="ru-RU" sz="1200" dirty="0">
                <a:latin typeface="KyivType Sans Medium" panose="00000600000000000000" pitchFamily="50" charset="-52"/>
              </a:rPr>
              <a:t> HTML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CSS, </a:t>
            </a:r>
            <a:r>
              <a:rPr lang="en-US" altLang="en-US" sz="1200" dirty="0">
                <a:latin typeface="KyivType Sans Medium" panose="00000600000000000000" pitchFamily="50" charset="-52"/>
              </a:rPr>
              <a:t>а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также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фреймворка</a:t>
            </a:r>
            <a:r>
              <a:rPr lang="en-US" altLang="ru-RU" sz="1200" dirty="0">
                <a:latin typeface="KyivType Sans Medium" panose="00000600000000000000" pitchFamily="50" charset="-52"/>
              </a:rPr>
              <a:t> Bootstrap 5,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что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позволило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создать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адаптивный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современный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дизайн</a:t>
            </a:r>
            <a:r>
              <a:rPr lang="en-US" altLang="ru-RU" sz="1200" dirty="0">
                <a:latin typeface="KyivType Sans Medium" panose="00000600000000000000" pitchFamily="50" charset="-52"/>
              </a:rPr>
              <a:t>.</a:t>
            </a:r>
          </a:p>
          <a:p>
            <a:pPr algn="l"/>
            <a:endParaRPr lang="en-US" altLang="ru-RU" sz="1200" dirty="0">
              <a:latin typeface="KyivType Sans Medium" panose="00000600000000000000" pitchFamily="50" charset="-52"/>
            </a:endParaRPr>
          </a:p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Основное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внимание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уделено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простоте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удобству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взаимодействия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пользователя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системой</a:t>
            </a:r>
            <a:r>
              <a:rPr lang="en-US" altLang="ru-RU" sz="1200" dirty="0">
                <a:latin typeface="KyivType Sans Medium" panose="00000600000000000000" pitchFamily="50" charset="-52"/>
              </a:rPr>
              <a:t>:</a:t>
            </a:r>
          </a:p>
          <a:p>
            <a:pPr algn="l"/>
            <a:endParaRPr lang="en-US" altLang="ru-RU" sz="1200" dirty="0">
              <a:latin typeface="KyivType Sans Medium" panose="00000600000000000000" pitchFamily="50" charset="-52"/>
            </a:endParaRPr>
          </a:p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Учитель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имеет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доступ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личному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кабинету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где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может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добавлять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редактировать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удалять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данные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об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учениках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их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оценках</a:t>
            </a:r>
            <a:r>
              <a:rPr lang="en-US" altLang="ru-RU" sz="1200" dirty="0">
                <a:latin typeface="KyivType Sans Medium" panose="00000600000000000000" pitchFamily="50" charset="-52"/>
              </a:rPr>
              <a:t>.</a:t>
            </a:r>
          </a:p>
          <a:p>
            <a:pPr algn="l"/>
            <a:endParaRPr lang="en-US" altLang="ru-RU" sz="1200" dirty="0">
              <a:latin typeface="KyivType Sans Medium" panose="00000600000000000000" pitchFamily="50" charset="-52"/>
            </a:endParaRPr>
          </a:p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Ученик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имеет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личный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кабинет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где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может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просматривать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свои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предметы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оценки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средний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балл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а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также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график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успеваемости</a:t>
            </a:r>
            <a:r>
              <a:rPr lang="en-US" altLang="ru-RU" sz="1200" dirty="0">
                <a:latin typeface="KyivType Sans Medium" panose="00000600000000000000" pitchFamily="50" charset="-52"/>
              </a:rPr>
              <a:t>.</a:t>
            </a:r>
          </a:p>
          <a:p>
            <a:pPr algn="l"/>
            <a:endParaRPr lang="en-US" altLang="ru-RU" sz="1200" dirty="0">
              <a:latin typeface="KyivType Sans Medium" panose="00000600000000000000" pitchFamily="50" charset="-52"/>
            </a:endParaRPr>
          </a:p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Интерфейс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выдержан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в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едином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стиле</a:t>
            </a:r>
            <a:r>
              <a:rPr lang="en-US" altLang="ru-RU" sz="1200" dirty="0">
                <a:latin typeface="KyivType Sans Medium" panose="00000600000000000000" pitchFamily="50" charset="-52"/>
              </a:rPr>
              <a:t>: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синяя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навигационная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панель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светлый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фон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контрастные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элементы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управления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(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кнопки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таблицы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формы</a:t>
            </a:r>
            <a:r>
              <a:rPr lang="en-US" altLang="ru-RU" sz="1200" dirty="0">
                <a:latin typeface="KyivType Sans Medium" panose="00000600000000000000" pitchFamily="50" charset="-52"/>
              </a:rPr>
              <a:t>).</a:t>
            </a:r>
          </a:p>
          <a:p>
            <a:pPr algn="l"/>
            <a:r>
              <a:rPr lang="en-US" altLang="en-US" sz="1200" dirty="0">
                <a:latin typeface="KyivType Sans Medium" panose="00000600000000000000" pitchFamily="50" charset="-52"/>
              </a:rPr>
              <a:t>Использование</a:t>
            </a:r>
            <a:r>
              <a:rPr lang="en-US" altLang="ru-RU" sz="1200" dirty="0">
                <a:latin typeface="KyivType Sans Medium" panose="00000600000000000000" pitchFamily="50" charset="-52"/>
              </a:rPr>
              <a:t> Bootstrap </a:t>
            </a:r>
            <a:r>
              <a:rPr lang="en-US" altLang="en-US" sz="1200" dirty="0">
                <a:latin typeface="KyivType Sans Medium" panose="00000600000000000000" pitchFamily="50" charset="-52"/>
              </a:rPr>
              <a:t>позволило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сделать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интерфейс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адаптивным</a:t>
            </a:r>
            <a:r>
              <a:rPr lang="en-US" altLang="ru-RU" sz="1200" dirty="0">
                <a:latin typeface="KyivType Sans Medium" panose="00000600000000000000" pitchFamily="50" charset="-52"/>
              </a:rPr>
              <a:t> — </a:t>
            </a:r>
            <a:r>
              <a:rPr lang="en-US" altLang="en-US" sz="1200" dirty="0">
                <a:latin typeface="KyivType Sans Medium" panose="00000600000000000000" pitchFamily="50" charset="-52"/>
              </a:rPr>
              <a:t>сайт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корректно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отображается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как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на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компьютерах</a:t>
            </a:r>
            <a:r>
              <a:rPr lang="en-US" altLang="ru-RU" sz="1200" dirty="0">
                <a:latin typeface="KyivType Sans Medium" panose="00000600000000000000" pitchFamily="50" charset="-52"/>
              </a:rPr>
              <a:t>, </a:t>
            </a:r>
            <a:r>
              <a:rPr lang="en-US" altLang="en-US" sz="1200" dirty="0">
                <a:latin typeface="KyivType Sans Medium" panose="00000600000000000000" pitchFamily="50" charset="-52"/>
              </a:rPr>
              <a:t>так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и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на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мобильных</a:t>
            </a:r>
            <a:r>
              <a:rPr lang="en-US" altLang="ru-RU" sz="1200" dirty="0">
                <a:latin typeface="KyivType Sans Medium" panose="00000600000000000000" pitchFamily="50" charset="-52"/>
              </a:rPr>
              <a:t> </a:t>
            </a:r>
            <a:r>
              <a:rPr lang="en-US" altLang="en-US" sz="1200" dirty="0">
                <a:latin typeface="KyivType Sans Medium" panose="00000600000000000000" pitchFamily="50" charset="-52"/>
              </a:rPr>
              <a:t>устройствах</a:t>
            </a:r>
            <a:r>
              <a:rPr lang="en-US" altLang="ru-RU" sz="1200" dirty="0">
                <a:latin typeface="KyivType Sans Medium" panose="00000600000000000000" pitchFamily="50" charset="-52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0696" y="27871"/>
            <a:ext cx="106689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ПРОЕКТИРОВАНИЕ ИНТЕРФЕЙСА ПРОГРАММНОГО ПРОДУКТА</a:t>
            </a: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" y="3942715"/>
            <a:ext cx="5182870" cy="291528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350" y="3943350"/>
            <a:ext cx="5180965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78029" y="249260"/>
            <a:ext cx="114791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ТЕСТИРОВАНИЕ РАЗРАБОТАННОГО ПРОГРАММНОГО ПРОДУКТА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32"/>
          <p:cNvGrpSpPr/>
          <p:nvPr/>
        </p:nvGrpSpPr>
        <p:grpSpPr>
          <a:xfrm rot="5400000">
            <a:off x="9532229" y="1579061"/>
            <a:ext cx="1782138" cy="1301154"/>
            <a:chOff x="9404916" y="1524706"/>
            <a:chExt cx="1568126" cy="1144902"/>
          </a:xfrm>
        </p:grpSpPr>
        <p:sp>
          <p:nvSpPr>
            <p:cNvPr id="34" name="Прямоугольник: усеченные противолежащие углы 33"/>
            <p:cNvSpPr/>
            <p:nvPr/>
          </p:nvSpPr>
          <p:spPr>
            <a:xfrm flipH="1">
              <a:off x="9724547" y="1524706"/>
              <a:ext cx="1248495" cy="479958"/>
            </a:xfrm>
            <a:prstGeom prst="snip2DiagRect">
              <a:avLst>
                <a:gd name="adj1" fmla="val 0"/>
                <a:gd name="adj2" fmla="val 50000"/>
              </a:avLst>
            </a:prstGeom>
            <a:noFill/>
            <a:ln w="28575">
              <a:solidFill>
                <a:srgbClr val="293DF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35" name="Овал 34"/>
            <p:cNvSpPr/>
            <p:nvPr/>
          </p:nvSpPr>
          <p:spPr>
            <a:xfrm>
              <a:off x="9404916" y="1764685"/>
              <a:ext cx="239979" cy="239979"/>
            </a:xfrm>
            <a:prstGeom prst="ellipse">
              <a:avLst/>
            </a:prstGeom>
            <a:noFill/>
            <a:ln w="28575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9724546" y="2079482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9724546" y="2411954"/>
              <a:ext cx="257654" cy="257654"/>
            </a:xfrm>
            <a:prstGeom prst="rect">
              <a:avLst/>
            </a:prstGeom>
            <a:noFill/>
            <a:ln w="28575">
              <a:solidFill>
                <a:srgbClr val="00FE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noFill/>
              </a:endParaRPr>
            </a:p>
          </p:txBody>
        </p:sp>
      </p:grpSp>
      <p:sp>
        <p:nvSpPr>
          <p:cNvPr id="4" name="Текстовое поле 3"/>
          <p:cNvSpPr txBox="1"/>
          <p:nvPr/>
        </p:nvSpPr>
        <p:spPr>
          <a:xfrm>
            <a:off x="530860" y="1847850"/>
            <a:ext cx="8105140" cy="317563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1600"/>
              <a:t>На этапе тестирования веб-приложения «Электронный журнал для образовательной организации» была проведена проверка корректности работы всех основных функций системы.</a:t>
            </a:r>
          </a:p>
          <a:p>
            <a:r>
              <a:rPr sz="1600"/>
              <a:t>Проверялись следующие модули:</a:t>
            </a:r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регистрация и авторизация пользователей (учитель, ученик);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добавление, редактирование и удаление данных об учениках и их предметах;</a:t>
            </a:r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сохранение данных в JSON-файлах;</a:t>
            </a:r>
          </a:p>
          <a:p>
            <a:pPr>
              <a:buFont typeface="Arial" panose="020B0604020202020204"/>
              <a:buChar char="•"/>
            </a:pPr>
            <a:endParaRPr sz="1600"/>
          </a:p>
        </p:txBody>
      </p:sp>
      <p:pic>
        <p:nvPicPr>
          <p:cNvPr id="5" name="Изображение 4" descr="image.p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21835"/>
            <a:ext cx="4152900" cy="233616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895" y="4502785"/>
            <a:ext cx="4186555" cy="235521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680" y="2399665"/>
            <a:ext cx="3771900" cy="2122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77874" y="351221"/>
            <a:ext cx="2653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KyivType Sans Heavy" panose="00000900000000000000" pitchFamily="50" charset="-52"/>
              </a:rPr>
              <a:t>Заключение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grpSp>
        <p:nvGrpSpPr>
          <p:cNvPr id="2" name="Группа 23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27" name="Прямая соединительная линия 2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00FE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46"/>
          <p:cNvGrpSpPr/>
          <p:nvPr/>
        </p:nvGrpSpPr>
        <p:grpSpPr>
          <a:xfrm rot="5400000">
            <a:off x="9422663" y="1661436"/>
            <a:ext cx="2010748" cy="1310632"/>
            <a:chOff x="8931002" y="1384565"/>
            <a:chExt cx="1912392" cy="1246521"/>
          </a:xfrm>
        </p:grpSpPr>
        <p:grpSp>
          <p:nvGrpSpPr>
            <p:cNvPr id="5" name="Группа 35"/>
            <p:cNvGrpSpPr/>
            <p:nvPr/>
          </p:nvGrpSpPr>
          <p:grpSpPr>
            <a:xfrm>
              <a:off x="8931002" y="1384565"/>
              <a:ext cx="1155199" cy="661168"/>
              <a:chOff x="8315325" y="942975"/>
              <a:chExt cx="1854994" cy="1061689"/>
            </a:xfrm>
          </p:grpSpPr>
          <p:sp>
            <p:nvSpPr>
              <p:cNvPr id="4" name="Овал 3"/>
              <p:cNvSpPr/>
              <p:nvPr/>
            </p:nvSpPr>
            <p:spPr>
              <a:xfrm>
                <a:off x="8315325" y="942975"/>
                <a:ext cx="1061689" cy="1061689"/>
              </a:xfrm>
              <a:prstGeom prst="ellipse">
                <a:avLst/>
              </a:prstGeom>
              <a:noFill/>
              <a:ln w="28575">
                <a:solidFill>
                  <a:srgbClr val="293DF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2" name="Прямая соединительная линия 21"/>
              <p:cNvCxnSpPr/>
              <p:nvPr/>
            </p:nvCxnSpPr>
            <p:spPr>
              <a:xfrm>
                <a:off x="8846170" y="942975"/>
                <a:ext cx="1324149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/>
              <p:cNvCxnSpPr/>
              <p:nvPr/>
            </p:nvCxnSpPr>
            <p:spPr>
              <a:xfrm>
                <a:off x="9358313" y="1367651"/>
                <a:ext cx="812006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/>
              <p:cNvCxnSpPr/>
              <p:nvPr/>
            </p:nvCxnSpPr>
            <p:spPr>
              <a:xfrm>
                <a:off x="9358313" y="1579989"/>
                <a:ext cx="812006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/>
              <p:cNvCxnSpPr/>
              <p:nvPr/>
            </p:nvCxnSpPr>
            <p:spPr>
              <a:xfrm>
                <a:off x="8846170" y="2004664"/>
                <a:ext cx="1324149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/>
              <p:cNvCxnSpPr/>
              <p:nvPr/>
            </p:nvCxnSpPr>
            <p:spPr>
              <a:xfrm>
                <a:off x="9265444" y="1792327"/>
                <a:ext cx="904875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/>
              <p:cNvCxnSpPr/>
              <p:nvPr/>
            </p:nvCxnSpPr>
            <p:spPr>
              <a:xfrm>
                <a:off x="9265444" y="1155313"/>
                <a:ext cx="904875" cy="0"/>
              </a:xfrm>
              <a:prstGeom prst="line">
                <a:avLst/>
              </a:prstGeom>
              <a:ln w="28575">
                <a:solidFill>
                  <a:srgbClr val="293DF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Прямоугольник 36"/>
            <p:cNvSpPr/>
            <p:nvPr/>
          </p:nvSpPr>
          <p:spPr>
            <a:xfrm>
              <a:off x="10182226" y="1384565"/>
              <a:ext cx="661168" cy="661168"/>
            </a:xfrm>
            <a:prstGeom prst="rect">
              <a:avLst/>
            </a:prstGeom>
            <a:gradFill>
              <a:gsLst>
                <a:gs pos="100000">
                  <a:srgbClr val="FF00FF"/>
                </a:gs>
                <a:gs pos="0">
                  <a:srgbClr val="9789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" name="Группа 37"/>
            <p:cNvGrpSpPr/>
            <p:nvPr/>
          </p:nvGrpSpPr>
          <p:grpSpPr>
            <a:xfrm rot="13500000">
              <a:off x="10050525" y="2232148"/>
              <a:ext cx="563489" cy="234387"/>
              <a:chOff x="2332258" y="1820834"/>
              <a:chExt cx="563489" cy="234387"/>
            </a:xfrm>
          </p:grpSpPr>
          <p:cxnSp>
            <p:nvCxnSpPr>
              <p:cNvPr id="39" name="Прямая соединительная линия 38"/>
              <p:cNvCxnSpPr/>
              <p:nvPr/>
            </p:nvCxnSpPr>
            <p:spPr>
              <a:xfrm rot="5400000" flipV="1">
                <a:off x="2580459" y="1745118"/>
                <a:ext cx="0" cy="496401"/>
              </a:xfrm>
              <a:prstGeom prst="line">
                <a:avLst/>
              </a:prstGeom>
              <a:ln w="114300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единительная линия 39"/>
              <p:cNvCxnSpPr/>
              <p:nvPr/>
            </p:nvCxnSpPr>
            <p:spPr>
              <a:xfrm flipH="1" flipV="1">
                <a:off x="2632389" y="1820834"/>
                <a:ext cx="191586" cy="191586"/>
              </a:xfrm>
              <a:prstGeom prst="line">
                <a:avLst/>
              </a:prstGeom>
              <a:ln w="114300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Прямая соединительная линия 40"/>
              <p:cNvCxnSpPr/>
              <p:nvPr/>
            </p:nvCxnSpPr>
            <p:spPr>
              <a:xfrm rot="8100000">
                <a:off x="2590433" y="2055221"/>
                <a:ext cx="305314" cy="0"/>
              </a:xfrm>
              <a:prstGeom prst="line">
                <a:avLst/>
              </a:prstGeom>
              <a:ln w="114300">
                <a:solidFill>
                  <a:srgbClr val="FF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/>
          <p:cNvSpPr txBox="1"/>
          <p:nvPr/>
        </p:nvSpPr>
        <p:spPr>
          <a:xfrm>
            <a:off x="1667998" y="874271"/>
            <a:ext cx="6218702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ходе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выполнения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курсового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проекта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была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разработана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реализована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веб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система</a:t>
            </a:r>
          </a:p>
          <a:p>
            <a:pPr marL="342900" indent="-342900">
              <a:buClr>
                <a:srgbClr val="9789F8"/>
              </a:buClr>
            </a:pPr>
            <a:r>
              <a:rPr lang="" altLang="en-US" sz="1200" dirty="0">
                <a:latin typeface="Arial Black" panose="020B0A04020102020204" charset="0"/>
                <a:cs typeface="Arial Black" panose="020B0A04020102020204" charset="0"/>
              </a:rPr>
              <a:t>«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Электронный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журнал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образовательной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организации</a:t>
            </a:r>
            <a:r>
              <a:rPr lang="" altLang="en-US" sz="1200" dirty="0">
                <a:latin typeface="Arial Black" panose="020B0A04020102020204" charset="0"/>
                <a:cs typeface="Arial Black" panose="020B0A04020102020204" charset="0"/>
              </a:rPr>
              <a:t>»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предназначенная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автоматизации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процесса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учёта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успеваемости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учащихся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.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процессе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работы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были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выполнены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следующие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задачи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: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проведён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анализ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предметной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области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определены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требования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к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функционалу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системы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;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спроектирована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структура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базы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данных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использованием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формата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JSON;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реализован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веб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-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интерфейс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применением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фреймворка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Flask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библиотеки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Bootstrap 5;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разработаны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личные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кабинеты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учителя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ученика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;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проведено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тестирование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подтвердившее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корректную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работу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основных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функций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приложения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.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Разработанное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приложение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обладает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простотой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использования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наглядным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интерфейсом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возможностью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расширения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функционала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(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добавление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расписания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комментариев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уведомлений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др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.).</a:t>
            </a:r>
          </a:p>
          <a:p>
            <a:pPr marL="342900" indent="-342900">
              <a:buClr>
                <a:srgbClr val="9789F8"/>
              </a:buClr>
            </a:pPr>
            <a:endParaRPr lang="en-US" altLang="ru-RU" sz="1200" dirty="0"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Clr>
                <a:srgbClr val="9789F8"/>
              </a:buClr>
            </a:pP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Таким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образом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поставленные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цели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задачи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проекта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выполнены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,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созданный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программный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продукт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может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быть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использован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образовательных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организациях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для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ведения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электронного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учёта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en-US" altLang="en-US" sz="1200" dirty="0">
                <a:latin typeface="Arial Black" panose="020B0A04020102020204" charset="0"/>
                <a:cs typeface="Arial Black" panose="020B0A04020102020204" charset="0"/>
              </a:rPr>
              <a:t>успеваемости</a:t>
            </a:r>
            <a:r>
              <a:rPr lang="en-US" altLang="ru-RU" sz="1200" dirty="0">
                <a:latin typeface="Arial Black" panose="020B0A04020102020204" charset="0"/>
                <a:cs typeface="Arial Black" panose="020B0A04020102020204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1799" y="348840"/>
            <a:ext cx="51684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КОЛЛЕДЖ МИРОВОЙ ЭКОНОМИКИ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KyivType Sans Medium" panose="00000600000000000000" pitchFamily="50" charset="-52"/>
              </a:rPr>
              <a:t>И ПЕРЕДОВЫХ ТЕХНОЛОГИЙ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244" y="6329160"/>
            <a:ext cx="1182047" cy="1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8369" y="2605612"/>
            <a:ext cx="6203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KyivType Sans Heavy" panose="00000900000000000000" pitchFamily="50" charset="-52"/>
              </a:rPr>
              <a:t>СПАСИБО ЗА ВНИМАНИЕ!</a:t>
            </a:r>
          </a:p>
        </p:txBody>
      </p:sp>
      <p:grpSp>
        <p:nvGrpSpPr>
          <p:cNvPr id="25" name="Группа 24"/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17" name="Прямая соединительная линия 16"/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Арка 1"/>
          <p:cNvSpPr/>
          <p:nvPr/>
        </p:nvSpPr>
        <p:spPr>
          <a:xfrm>
            <a:off x="361708" y="6049579"/>
            <a:ext cx="914400" cy="914400"/>
          </a:xfrm>
          <a:prstGeom prst="blockArc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6" name="Арка 15"/>
          <p:cNvSpPr/>
          <p:nvPr/>
        </p:nvSpPr>
        <p:spPr>
          <a:xfrm>
            <a:off x="361708" y="5590025"/>
            <a:ext cx="914400" cy="914400"/>
          </a:xfrm>
          <a:prstGeom prst="blockArc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10898782" y="351221"/>
            <a:ext cx="931509" cy="552590"/>
            <a:chOff x="9586559" y="741479"/>
            <a:chExt cx="2247900" cy="1333500"/>
          </a:xfrm>
          <a:gradFill>
            <a:gsLst>
              <a:gs pos="100000">
                <a:srgbClr val="FF00FF"/>
              </a:gs>
              <a:gs pos="0">
                <a:srgbClr val="293DF4"/>
              </a:gs>
            </a:gsLst>
            <a:lin ang="0" scaled="0"/>
          </a:gradFill>
        </p:grpSpPr>
        <p:sp>
          <p:nvSpPr>
            <p:cNvPr id="3" name="Прямоугольник: скругленные противолежащие углы 2"/>
            <p:cNvSpPr/>
            <p:nvPr/>
          </p:nvSpPr>
          <p:spPr>
            <a:xfrm>
              <a:off x="9586559" y="741479"/>
              <a:ext cx="914400" cy="66675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: скругленные противолежащие углы 17"/>
            <p:cNvSpPr/>
            <p:nvPr/>
          </p:nvSpPr>
          <p:spPr>
            <a:xfrm>
              <a:off x="9586559" y="1408229"/>
              <a:ext cx="914400" cy="66675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Часть круга 4"/>
            <p:cNvSpPr/>
            <p:nvPr/>
          </p:nvSpPr>
          <p:spPr>
            <a:xfrm>
              <a:off x="10500959" y="741479"/>
              <a:ext cx="1333500" cy="1333500"/>
            </a:xfrm>
            <a:prstGeom prst="pi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КМЭПТ Шаблон презентаций</Template>
  <TotalTime>0</TotalTime>
  <Words>4474</Words>
  <Application>Microsoft Office PowerPoint</Application>
  <PresentationFormat>Широкоэкранный</PresentationFormat>
  <Paragraphs>107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Дисциплина: название  дисциплины</dc:title>
  <dc:creator>Валерий Сарычев</dc:creator>
  <cp:lastModifiedBy>Роман Иванов</cp:lastModifiedBy>
  <cp:revision>31</cp:revision>
  <dcterms:created xsi:type="dcterms:W3CDTF">2021-11-22T05:24:00Z</dcterms:created>
  <dcterms:modified xsi:type="dcterms:W3CDTF">2025-11-13T09:29:48Z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195A78626DDD4384B7739F4D1C4AF653_13</vt:lpwstr>
  </property>
  <property fmtid="{D5CDD505-2E9C-101B-9397-08002B2CF9AE}" pid="3" name="KSOProductBuildVer">
    <vt:lpwstr>1049-12.2.0.23155</vt:lpwstr>
  </property>
</Properties>
</file>